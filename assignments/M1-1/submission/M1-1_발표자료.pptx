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3200400" cy="3200400"/>
          </a:xfrm>
          <a:prstGeom prst="ellipse">
            <a:avLst/>
          </a:prstGeom>
          <a:solidFill>
            <a:srgbClr val="283A8A">
              <a:alpha val="40000"/>
            </a:srgbClr>
          </a:solidFill>
          <a:ln w="12700">
            <a:solidFill>
              <a:srgbClr val="283A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283A8A">
              <a:alpha val="40000"/>
            </a:srgbClr>
          </a:solidFill>
          <a:ln w="12700">
            <a:solidFill>
              <a:srgbClr val="283A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474720" y="731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123444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일본 YouTube 롱폼 콘텐츠</a:t>
            </a:r>
            <a:endParaRPr lang="en-US" sz="3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트렌드 분석</a:t>
            </a:r>
            <a:endParaRPr lang="en-US" sz="33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6974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구독자 적은 채널이 터지는 조건을 데이터로 찾는다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83280" y="3337560"/>
            <a:ext cx="1325880" cy="822960"/>
          </a:xfrm>
          <a:prstGeom prst="roundRect">
            <a:avLst>
              <a:gd name="adj" fmla="val 5556"/>
            </a:avLst>
          </a:prstGeom>
          <a:solidFill>
            <a:srgbClr val="253077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3364992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632건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373075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영상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3337560"/>
            <a:ext cx="1325880" cy="822960"/>
          </a:xfrm>
          <a:prstGeom prst="roundRect">
            <a:avLst>
              <a:gd name="adj" fmla="val 5556"/>
            </a:avLst>
          </a:prstGeom>
          <a:solidFill>
            <a:srgbClr val="253077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3364992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449개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73075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 수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3337560"/>
            <a:ext cx="1325880" cy="822960"/>
          </a:xfrm>
          <a:prstGeom prst="roundRect">
            <a:avLst>
              <a:gd name="adj" fmla="val 5556"/>
            </a:avLst>
          </a:prstGeom>
          <a:solidFill>
            <a:srgbClr val="253077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3364992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9,000+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73075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포인트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72400" y="3337560"/>
            <a:ext cx="1325880" cy="822960"/>
          </a:xfrm>
          <a:prstGeom prst="roundRect">
            <a:avLst>
              <a:gd name="adj" fmla="val 5556"/>
            </a:avLst>
          </a:prstGeom>
          <a:solidFill>
            <a:srgbClr val="253077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0" y="3364992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373075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질문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수집: 2026-09-02  |  게시 기간: 2026-07-03 ~ 09-01  |  YouTube Data API v3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 순서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931920" cy="749808"/>
          </a:xfrm>
          <a:prstGeom prst="roundRect">
            <a:avLst>
              <a:gd name="adj" fmla="val 6098"/>
            </a:avLst>
          </a:prstGeom>
          <a:solidFill>
            <a:srgbClr val="253077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2529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261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주제 및 선정 이유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3931920" cy="749808"/>
          </a:xfrm>
          <a:prstGeom prst="roundRect">
            <a:avLst>
              <a:gd name="adj" fmla="val 6098"/>
            </a:avLst>
          </a:prstGeom>
          <a:solidFill>
            <a:srgbClr val="253077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213969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1762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질문 4개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3931920" cy="749808"/>
          </a:xfrm>
          <a:prstGeom prst="roundRect">
            <a:avLst>
              <a:gd name="adj" fmla="val 6098"/>
            </a:avLst>
          </a:prstGeom>
          <a:solidFill>
            <a:srgbClr val="253077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305409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30906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설명 (수집 방법 · API 구조)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3931920" cy="749808"/>
          </a:xfrm>
          <a:prstGeom prst="roundRect">
            <a:avLst>
              <a:gd name="adj" fmla="val 6098"/>
            </a:avLst>
          </a:prstGeom>
          <a:solidFill>
            <a:srgbClr val="253077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396849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40050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정제 및 시계열 분석 기법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1097280"/>
            <a:ext cx="3931920" cy="749808"/>
          </a:xfrm>
          <a:prstGeom prst="roundRect">
            <a:avLst>
              <a:gd name="adj" fmla="val 6098"/>
            </a:avLst>
          </a:prstGeom>
          <a:solidFill>
            <a:srgbClr val="253077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56048" y="122529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504688" y="1261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시각화 3개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0" y="2011680"/>
            <a:ext cx="3931920" cy="749808"/>
          </a:xfrm>
          <a:prstGeom prst="roundRect">
            <a:avLst>
              <a:gd name="adj" fmla="val 6098"/>
            </a:avLst>
          </a:prstGeom>
          <a:solidFill>
            <a:srgbClr val="253077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56048" y="213969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504688" y="21762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인사이트 4개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2926080"/>
            <a:ext cx="3931920" cy="749808"/>
          </a:xfrm>
          <a:prstGeom prst="roundRect">
            <a:avLst>
              <a:gd name="adj" fmla="val 6098"/>
            </a:avLst>
          </a:prstGeom>
          <a:solidFill>
            <a:srgbClr val="253077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56048" y="305409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5504688" y="30906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 · 한계점 · AI 사용 로그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3840480"/>
            <a:ext cx="3931920" cy="749808"/>
          </a:xfrm>
          <a:prstGeom prst="roundRect">
            <a:avLst>
              <a:gd name="adj" fmla="val 6098"/>
            </a:avLst>
          </a:prstGeom>
          <a:solidFill>
            <a:srgbClr val="253077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956048" y="396849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504688" y="40050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보너스: 탐색 대시보드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9FF"/>
          </a:solidFill>
          <a:ln w="12700">
            <a:solidFill>
              <a:srgbClr val="F5F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주제 및 선정 이유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38912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234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주제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572768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일본 YouTube 롱폼 영상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트렌드 분석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331720"/>
            <a:ext cx="4114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조회수 상위 영상을 찾는 것이 목적이 아니다.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자리는 이미 큰 채널이 차지하고 있다.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구독자 대비 조회수가 비정상적으로 높은 영상이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아직 충분히 다뤄지지 않은 주제를 가리킨다고 보고,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그것을 데이터로 찾는다.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937760" y="1143000"/>
            <a:ext cx="384048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74920" y="1234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선정 이유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074920" y="16276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532120" y="16276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실용적 목적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532120" y="1883664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콘텐츠 제작 전략에 직접 활용 — 어떤 주제가 소규모 채널에도 기회를 주는가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25877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25877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시계열 적합성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532120" y="2843784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조회수·구독자는 시간에 따라 변하는 전형적 시계열 데이터 — 스냅샷 수집으로 추이 관측 가능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074920" y="35478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532120" y="35478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편향 발견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532120" y="3803904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조회수 비교가 왜 잘못된 결론을 내는지 데이터로 직접 검증할 수 있는 주제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9FF"/>
          </a:solidFill>
          <a:ln w="12700">
            <a:solidFill>
              <a:srgbClr val="F5F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질문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61872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261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1243584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일본 롱폼 영상의 조회 성과는 상승하고 있는가?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1031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조회수 비교 vs 나이 보정 비교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114800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261872"/>
            <a:ext cx="457200" cy="45720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261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22392" y="1243584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구독자가 적은 채널 중 비정상적으로 높은 조회수를 낸 영상이 있는가?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21031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구독자 대비 조회수 5배 이상 = Outlier 기준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4114800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090672"/>
            <a:ext cx="457200" cy="4572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3090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33272" y="3072384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영상의 우연한 성공과 채널 전체의 성장을 어떻게 구분하는가?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39319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Score × Channel Score — 합산 금지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2926080"/>
            <a:ext cx="4114800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2040" y="3090672"/>
            <a:ext cx="457200" cy="45720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92040" y="3090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422392" y="3072384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주제가 상대적으로 좋은 성과를 내고, 공급은 어떻게 변하고 있는가?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39319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넓은 검색어(수요) vs 롱테일(공급 여지)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9FF"/>
          </a:solidFill>
          <a:ln w="12700">
            <a:solidFill>
              <a:srgbClr val="F5F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설명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297680" cy="365760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1887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 개요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1371600" cy="420624"/>
          </a:xfrm>
          <a:prstGeom prst="rect">
            <a:avLst/>
          </a:prstGeom>
          <a:solidFill>
            <a:srgbClr val="EAF4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60020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165506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Data API v3 (공개 메타데이터)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103120"/>
            <a:ext cx="1371600" cy="420624"/>
          </a:xfrm>
          <a:prstGeom prst="rect">
            <a:avLst/>
          </a:prstGeom>
          <a:solidFill>
            <a:srgbClr val="EAF4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10312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수집일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215798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2026-09-02 — API 호출한 단 하루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2606040"/>
            <a:ext cx="1371600" cy="420624"/>
          </a:xfrm>
          <a:prstGeom prst="rect">
            <a:avLst/>
          </a:prstGeom>
          <a:solidFill>
            <a:srgbClr val="EAF4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6060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게시 기간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266090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2026-07-03 ~ 2026-09-01 (60일치)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108960"/>
            <a:ext cx="1371600" cy="420624"/>
          </a:xfrm>
          <a:prstGeom prst="rect">
            <a:avLst/>
          </a:prstGeom>
          <a:solidFill>
            <a:srgbClr val="EAF4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310896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 영상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920240" y="316382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777건 → 필터 후 632건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611880"/>
            <a:ext cx="1371600" cy="420624"/>
          </a:xfrm>
          <a:prstGeom prst="rect">
            <a:avLst/>
          </a:prstGeom>
          <a:solidFill>
            <a:srgbClr val="EAF4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36118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 수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920240" y="366674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449개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4114800"/>
            <a:ext cx="1371600" cy="420624"/>
          </a:xfrm>
          <a:prstGeom prst="rect">
            <a:avLst/>
          </a:prstGeom>
          <a:solidFill>
            <a:srgbClr val="EAF4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2920" y="411480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필터 조건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920240" y="416966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10분 이상 · 일본어(가나 비율 10%+)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46320" y="1097280"/>
            <a:ext cx="3886200" cy="1828800"/>
          </a:xfrm>
          <a:prstGeom prst="roundRect">
            <a:avLst>
              <a:gd name="adj" fmla="val 2500"/>
            </a:avLst>
          </a:prstGeom>
          <a:solidFill>
            <a:srgbClr val="FFF9E7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983480" y="118872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77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수집일 vs 게시 기간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4983480" y="1572768"/>
            <a:ext cx="36118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수집은 2026-09-02 하루에 한 번 했다.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그날 검색어로 찾은 영상들이 YouTube에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올라온 날짜가 07-03 ~ 09-01에 분포한다.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SEARCH_DAYS = 60 파라미터로 최근 60일치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게시물을 검색 조건으로 걸었기 때문이다.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 기간이 아니라 데이터의 시간 범위.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3063240"/>
            <a:ext cx="3886200" cy="1581912"/>
          </a:xfrm>
          <a:prstGeom prst="roundRect">
            <a:avLst>
              <a:gd name="adj" fmla="val 2890"/>
            </a:avLst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83480" y="313639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할당량 구조 (2026-06-01 개편)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83480" y="3502152"/>
            <a:ext cx="100584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83480" y="35021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버킷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89320" y="3502152"/>
            <a:ext cx="96012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989320" y="35021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한도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949440" y="3502152"/>
            <a:ext cx="169164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949440" y="35021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83480" y="3776472"/>
            <a:ext cx="1005840" cy="329184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983480" y="37764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989320" y="3776472"/>
            <a:ext cx="960120" cy="329184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989320" y="377647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100회/일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949440" y="3776472"/>
            <a:ext cx="1691640" cy="329184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949440" y="377647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16회 (16%)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983480" y="4123944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983480" y="410565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989320" y="4123944"/>
            <a:ext cx="9601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989320" y="410565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units/일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949440" y="4123944"/>
            <a:ext cx="1691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949440" y="410565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~1,630u (16%)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9FF"/>
          </a:solidFill>
          <a:ln w="12700">
            <a:solidFill>
              <a:srgbClr val="F5F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정제 &amp; 시계열 분석 기법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297680" cy="365760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1704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정제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5087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777건 → 632건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938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192024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중복 영상 제거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176272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video_id 기준 dedup — 복수 검색어에 걸린 영상 통합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25968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257860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조회수 스냅샷 없는 영상 제거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283464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 당일 스냅샷 미수집 = 분석 제외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2552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323697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구독자 1,000명 미만 — 비율만 결측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96112" y="3493008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6명→1,461회(244배) 같은 소분모 노이즈.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행은 남기고 비율(Video Score)만 NaN 처리 (139건)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39136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389534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참여율 1.5/1,000 미만 — 비율만 결측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4151376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1,000회당 좋아요 1.5개 미만 = 매크(구매 조회수) 방어선.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해당 건수 0 — 오염 없음 확인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1097280"/>
            <a:ext cx="3886200" cy="365760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83480" y="117043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시계열 분석 기법 3가지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983480" y="1664208"/>
            <a:ext cx="365760" cy="36576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83480" y="1664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22392" y="16459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이동평균 (Moving Average)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22392" y="1975104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게시 주차별 평균 조회 속도에 4주 이동평균 적용.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 노이즈를 제거해 중장기 트렌드만 추출.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983480" y="2670048"/>
            <a:ext cx="365760" cy="36576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983480" y="2670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22392" y="26517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변화율 (Rate of Change)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22392" y="2980944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4주 평균 vs 이전 4주 평균.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나이 편향 검출에 사용 — 편향이 +442%를 만들었다.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983480" y="3675888"/>
            <a:ext cx="365760" cy="3657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83480" y="3675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422392" y="36576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구간별 통계 (Age Bucket) ★핵심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422392" y="3986784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게시 후 경과일로 0~3·4~7·8~14·15~30·31~90일 구간 분리.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나이의 영상끼리 비교 — 나이 편향 근본 해소.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9FF"/>
          </a:solidFill>
          <a:ln w="12700">
            <a:solidFill>
              <a:srgbClr val="F5F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시각화 1 — 게시 주차별 평균 조회 속도 트렌드</a:t>
            </a:r>
            <a:endParaRPr lang="en-US" sz="2600" dirty="0"/>
          </a:p>
        </p:txBody>
      </p:sp>
      <p:pic>
        <p:nvPicPr>
          <p:cNvPr id="5" name="Image 0" descr="C:\ia-codyssey\assignments\M1-1\submission\images\01_view_velocity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78992"/>
            <a:ext cx="521208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0" y="1078992"/>
            <a:ext cx="3108960" cy="347472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06440" y="117043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그래프 해석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806440" y="150876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변화율 → +442%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"최근이 이전보다 조회수가 훨씬 높다"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Bucket 보정 후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같은 나이대 비교 시 유의한 상승 없음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人生 검색어의 경우: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비교 +16,000% 성장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나이 맞추면 최하위로 역전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겉보기 상승의 원인은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"어린 영상이 많기 때문"이다.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46634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x축: 게시 주차  |  y축: 조회수/경과일  |  실선: 4주 이동평균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9FF"/>
          </a:solidFill>
          <a:ln w="12700">
            <a:solidFill>
              <a:srgbClr val="F5F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시각화 2 — 구독자 대비 조회수 분포 (Outlier 위치)</a:t>
            </a:r>
            <a:endParaRPr lang="en-US" sz="2600" dirty="0"/>
          </a:p>
        </p:txBody>
      </p:sp>
      <p:pic>
        <p:nvPicPr>
          <p:cNvPr id="5" name="Image 0" descr="C:\ia-codyssey\assignments\M1-1\submission\images\02_subscriber_vs_vie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78992"/>
            <a:ext cx="521208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0" y="1078992"/>
            <a:ext cx="3108960" cy="347472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06440" y="117043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정의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806440" y="15087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구독자 대비 조회수 5배 이상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(구독자 1,000명 이상 한정)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806440" y="2011680"/>
            <a:ext cx="283464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290건 중 47건 (16%)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Outlier 범위에 해당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최상위 사례: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구독 4,190명 → 502,006회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120배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주제: AI 마을 방치 실험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(ゆっくり解説 형식)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 규모와 무관하게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검색·추천으로 유입 가능한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수요가 존재한다는 신호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365760" y="46634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x축: 채널 구독자(로그)  |  y축: 조회수(로그)  |  빨간 점: Outlier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9FF"/>
          </a:solidFill>
          <a:ln w="12700">
            <a:solidFill>
              <a:srgbClr val="F5F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시각화 3 — 검색어별 성과·공급량 대조</a:t>
            </a:r>
            <a:endParaRPr lang="en-US" sz="2600" dirty="0"/>
          </a:p>
        </p:txBody>
      </p:sp>
      <p:pic>
        <p:nvPicPr>
          <p:cNvPr id="5" name="Image 0" descr="C:\ia-codyssey\assignments\M1-1\submission\images\03_topic_perform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78992"/>
            <a:ext cx="521208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0" y="1078992"/>
            <a:ext cx="3108960" cy="347472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06440" y="117043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수치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806440" y="15727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중앙 67,550회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806440" y="188366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넓은 키워드 (老後·お金·AI)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806440" y="22402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중앙 375회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806440" y="255117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롱테일 (定年後 住民税)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806440" y="290779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중앙 2,971회/일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5806440" y="321868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예외 — 熟年離婚(황혼이혼)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806440" y="357530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9건 → 52건 (5.8배)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5806440" y="3886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熟年離婚 공급량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806440" y="42062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넓은 낱말은 "수요 존재 여부"를,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롱테일은 "진입 여지"를 본다.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어느 한쪽만으로는 판단 불가.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인사이트 1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겉보기 상승의 대부분은 지표의 편향이다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743200" cy="3474720"/>
          </a:xfrm>
          <a:prstGeom prst="roundRect">
            <a:avLst>
              <a:gd name="adj" fmla="val 1667"/>
            </a:avLst>
          </a:prstGeom>
          <a:solidFill>
            <a:srgbClr val="253077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3898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관찰 (Fact)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1764792"/>
            <a:ext cx="2743200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828800"/>
            <a:ext cx="246888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4주 평균 조회 속도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이전 4주 → +442%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人生 검색어: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비교 +16,000%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743200" cy="3474720"/>
          </a:xfrm>
          <a:prstGeom prst="roundRect">
            <a:avLst>
              <a:gd name="adj" fmla="val 1667"/>
            </a:avLst>
          </a:prstGeom>
          <a:solidFill>
            <a:srgbClr val="253077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3898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원인 (Why)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291840" y="1764792"/>
            <a:ext cx="2743200" cy="274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828800"/>
            <a:ext cx="246888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조회수÷경과일 지표는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어린 영상일수록 구조적으로 높다.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"최근 vs 이전" 비교는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어린 영상과 늙은 영상의 비교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2743200" cy="3474720"/>
          </a:xfrm>
          <a:prstGeom prst="roundRect">
            <a:avLst>
              <a:gd name="adj" fmla="val 1667"/>
            </a:avLst>
          </a:prstGeom>
          <a:solidFill>
            <a:srgbClr val="253077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13898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행동 (Action)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17920" y="1764792"/>
            <a:ext cx="2743200" cy="274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1828800"/>
            <a:ext cx="246888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Bucket으로 보정하면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유의한 상승 없음 확인.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나이대 비교가 필수.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기간 비교 기피할 것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인사이트 2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구독자 1만 이하에서 16%가 Outlier다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743200" cy="3474720"/>
          </a:xfrm>
          <a:prstGeom prst="roundRect">
            <a:avLst>
              <a:gd name="adj" fmla="val 1667"/>
            </a:avLst>
          </a:prstGeom>
          <a:solidFill>
            <a:srgbClr val="253077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3898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관찰 (Fact)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1764792"/>
            <a:ext cx="2743200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828800"/>
            <a:ext cx="246888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구독자 1,000명 이상 290건 중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47건(16%)이 구독자 대비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조회수 5배 이상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최상위: 4,190구독 → 502,006회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120배 (AI 마을 방치 실험)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743200" cy="3474720"/>
          </a:xfrm>
          <a:prstGeom prst="roundRect">
            <a:avLst>
              <a:gd name="adj" fmla="val 1667"/>
            </a:avLst>
          </a:prstGeom>
          <a:solidFill>
            <a:srgbClr val="253077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3898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원인 (Why)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291840" y="1764792"/>
            <a:ext cx="2743200" cy="274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828800"/>
            <a:ext cx="246888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 구독자가 아니라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검색·추천으로 유입.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 규모와 무관하게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수요가 있는 주제는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알고리즘이 찾아낸다.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2743200" cy="3474720"/>
          </a:xfrm>
          <a:prstGeom prst="roundRect">
            <a:avLst>
              <a:gd name="adj" fmla="val 1667"/>
            </a:avLst>
          </a:prstGeom>
          <a:solidFill>
            <a:srgbClr val="253077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13898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행동 (Action)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17920" y="1764792"/>
            <a:ext cx="2743200" cy="274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1828800"/>
            <a:ext cx="246888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영상의 공통점 분석: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주제·형식·제목 패턴.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소규모 채널 운영자에게는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"알고리즘 진입 가능성"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 지표로 활용 가능.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인사이트 3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좁은 검색어는 맞는 주제는 찾지만 수요는 못 보여준다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743200" cy="3474720"/>
          </a:xfrm>
          <a:prstGeom prst="roundRect">
            <a:avLst>
              <a:gd name="adj" fmla="val 1667"/>
            </a:avLst>
          </a:prstGeom>
          <a:solidFill>
            <a:srgbClr val="253077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3898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관찰 (Fact)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1764792"/>
            <a:ext cx="2743200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828800"/>
            <a:ext cx="246888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넓은 낱말(老後·お金·AI)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조회 중앙 67,550회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롱테일(定年後 住民税)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중앙 375회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예외 熟年離婚: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좁은 키워드이나 2,971회/일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공급도 9→52건 (5.8배)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743200" cy="3474720"/>
          </a:xfrm>
          <a:prstGeom prst="roundRect">
            <a:avLst>
              <a:gd name="adj" fmla="val 1667"/>
            </a:avLst>
          </a:prstGeom>
          <a:solidFill>
            <a:srgbClr val="253077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3898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원인 (Why)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291840" y="1764792"/>
            <a:ext cx="2743200" cy="274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828800"/>
            <a:ext cx="246888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넓은 낱말 → 수요 존재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검색량은 많지만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공급도 많다.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롱테일 → 진입 여지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경쟁이 적지만 수요도 적다.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熟年離婚은 두 가지를 모두 만족한 예외.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2743200" cy="3474720"/>
          </a:xfrm>
          <a:prstGeom prst="roundRect">
            <a:avLst>
              <a:gd name="adj" fmla="val 1667"/>
            </a:avLst>
          </a:prstGeom>
          <a:solidFill>
            <a:srgbClr val="253077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13898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행동 (Action)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17920" y="1764792"/>
            <a:ext cx="2743200" cy="274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1828800"/>
            <a:ext cx="246888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넓은 낱말 먼저로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"수요 존재 여부" 확인.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롱테일로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"공급이 빈 틈" 발견.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레이어를 교차해야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올바른 기회 판별 가능.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인사이트 4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영상만 터진 채널과 채널째 오르는 채널은 다르다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743200" cy="3474720"/>
          </a:xfrm>
          <a:prstGeom prst="roundRect">
            <a:avLst>
              <a:gd name="adj" fmla="val 1667"/>
            </a:avLst>
          </a:prstGeom>
          <a:solidFill>
            <a:srgbClr val="253077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3898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관찰 (Fact)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1764792"/>
            <a:ext cx="2743200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828800"/>
            <a:ext cx="246888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`ねっと` 채널: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평소 수백 회 →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5편 중앙 72,670회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`都のオワリです` 채널: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구독자 대비로는 눈에 띄나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채널 평소보다 0.82배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(오히려 못 함)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743200" cy="3474720"/>
          </a:xfrm>
          <a:prstGeom prst="roundRect">
            <a:avLst>
              <a:gd name="adj" fmla="val 1667"/>
            </a:avLst>
          </a:prstGeom>
          <a:solidFill>
            <a:srgbClr val="253077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3898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원인 (Why)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291840" y="1764792"/>
            <a:ext cx="2743200" cy="274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828800"/>
            <a:ext cx="246888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 전체가 성장하는 것과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단발 영상만 터지는 것은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원인이 다르다.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Score(영상 단위)와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Score(채널 평균 대비)를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합산하면 이 차이가 사라진다.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2743200" cy="3474720"/>
          </a:xfrm>
          <a:prstGeom prst="roundRect">
            <a:avLst>
              <a:gd name="adj" fmla="val 1667"/>
            </a:avLst>
          </a:prstGeom>
          <a:solidFill>
            <a:srgbClr val="253077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13898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행동 (Action)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17920" y="1764792"/>
            <a:ext cx="2743200" cy="274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1828800"/>
            <a:ext cx="246888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점수를 별도로 산출 후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목적에 따라 선택.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 투자 판단 →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Score 우선.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 주제 발굴 →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Score 우선.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9FF"/>
          </a:solidFill>
          <a:ln w="12700">
            <a:solidFill>
              <a:srgbClr val="F5F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 및 한계점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297680" cy="365760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1887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627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627632"/>
            <a:ext cx="292608" cy="29260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1627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1581912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조회 성과의 "겉보기 상승"은 나이 편향이다.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Age Bucket 보정 없이는 잘못된 결론을 낸다.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23408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340864"/>
            <a:ext cx="292608" cy="29260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23408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2295144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구독자 1만 이하 채널에서도 Outlier는 16%다.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채널 크기가 성공 조건이 아니다.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30540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054096"/>
            <a:ext cx="292608" cy="29260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30540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008376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좁은 검색어와 넓은 검색어는 다른 정보를 준다.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두 레이어를 교차해야 기회를 발견할 수 있다.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37673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767328"/>
            <a:ext cx="292608" cy="29260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" y="37673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3721608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 성장과 단발 영상 성공은 구분해야 한다.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Video Score와 Channel Score를 합산하면 안 된다.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46320" y="1097280"/>
            <a:ext cx="3886200" cy="3657600"/>
          </a:xfrm>
          <a:prstGeom prst="roundRect">
            <a:avLst>
              <a:gd name="adj" fmla="val 1250"/>
            </a:avLst>
          </a:prstGeom>
          <a:solidFill>
            <a:srgbClr val="FFF3F3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83480" y="118872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한계점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4983480" y="16276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303520" y="1627632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수집일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1847088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2026-09-02 하루 스냅샷 — 장기 추이를 측정하기 어렵다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983480" y="22128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303520" y="2212848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검색어 한정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303520" y="2432304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20개 검색어 결과만 수집 — 일본 YouTube 전체를 대표하지 않는다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983480" y="27980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303520" y="2798064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변수 미반영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303520" y="301752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알고리즘 변경·시사 이슈 등 외부 요인이 조회수에 미치는 영향 미분리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983480" y="3383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303520" y="338328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지표 한계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303520" y="3602736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메타데이터만 사용 — CTR·시청 지속률 등 내부 데이터 접근 불가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983480" y="39684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5303520" y="3968496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상관 vs 인과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303520" y="4187952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인사이트는 상관관계 수준 — 인과관계 주장은 추가 실험 필요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9FF"/>
          </a:solidFill>
          <a:ln w="12700">
            <a:solidFill>
              <a:srgbClr val="F5F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사용 로그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17043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수집 코드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4813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(Sonnet 4.5)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194560" y="1170432"/>
            <a:ext cx="18288" cy="685800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86000" y="115214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이유: 표준 라이브러리 urllib만으로 YouTube Data API v3 호출·파싱 구조 설계 보조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151790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검증: 실제 수집 결과(777건) 확인 후 오류 없음 검증. 엣지 케이스(할당량 초과 가드) 직접 보완.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15000" y="1170432"/>
            <a:ext cx="18288" cy="685800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057400"/>
            <a:ext cx="8412480" cy="822960"/>
          </a:xfrm>
          <a:prstGeom prst="roundRect">
            <a:avLst>
              <a:gd name="adj" fmla="val 5556"/>
            </a:avLst>
          </a:prstGeom>
          <a:solidFill>
            <a:srgbClr val="F0F7FF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21305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시각화 코드 생성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244144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(Sonnet 4.5)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194560" y="2130552"/>
            <a:ext cx="18288" cy="685800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86000" y="211226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이유: matplotlib 기반 그래프 3개의 초안 생성 — 축·레이블·색상 기본 구조 확보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286000" y="247802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검증: 생성된 코드를 실행해 이미지 확인. 나이 편향 설명을 위한 이중 축 구성은 직접 수정.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15000" y="2130552"/>
            <a:ext cx="18288" cy="685800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017520"/>
            <a:ext cx="84124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309067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인사이트 해석 초안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34015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(Sonnet 4.5)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194560" y="3090672"/>
            <a:ext cx="18288" cy="685800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286000" y="307238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이유: 관찰→원인→행동 구조로 인사이트를 정리하는 문장 초안 작성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2286000" y="343814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검증: 수치 근거(47건/290건, 120배 등)는 직접 데이터에서 재확인. 해석 판단은 본인이 최종 결정.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15000" y="3090672"/>
            <a:ext cx="18288" cy="685800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977640"/>
            <a:ext cx="8412480" cy="822960"/>
          </a:xfrm>
          <a:prstGeom prst="roundRect">
            <a:avLst>
              <a:gd name="adj" fmla="val 5556"/>
            </a:avLst>
          </a:prstGeom>
          <a:solidFill>
            <a:srgbClr val="F0F7FF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02920" y="40507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 문서 작성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43616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(Sonnet 4.5)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194560" y="4050792"/>
            <a:ext cx="18288" cy="685800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286000" y="403250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이유: 섹션별 구성·문장 다듬기 보조. 게시 기간 vs 수집일 개념 설명 문안 제안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2286000" y="439826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검증: 내용 사실 여부는 config.py, youtube.py 코드를 직접 읽어 API 구조 확인 후 수정 반영.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715000" y="4050792"/>
            <a:ext cx="18288" cy="685800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9FF"/>
          </a:solidFill>
          <a:ln w="12700">
            <a:solidFill>
              <a:srgbClr val="F5F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보너스 — Streamlit 탐색 대시보드</a:t>
            </a:r>
            <a:endParaRPr lang="en-US" sz="2600" dirty="0"/>
          </a:p>
        </p:txBody>
      </p:sp>
      <p:pic>
        <p:nvPicPr>
          <p:cNvPr id="5" name="Image 0" descr="C:\ia-codyssey\assignments\M1-1\submission\images\screenshot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78992"/>
            <a:ext cx="5303520" cy="3520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06440" y="1078992"/>
            <a:ext cx="2971800" cy="35204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0" y="117043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요약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1572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355080" y="15727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떡상 영상 탭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355080" y="181965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Score 상위 필터링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943600" y="22311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355080" y="22311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시계열 탭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355080" y="247802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검색어·구간별 조회 속도 추이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0" y="28895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355080" y="288950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분포 탭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6355080" y="31363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구독자 대비 조회수 산점도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943600" y="35478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355080" y="35478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데이터 탭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6355080" y="3794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다운로드 + 컬럼 정렬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943600" y="41605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app.py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943600" y="4407408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키 없이 저장된 CSV만으로 동작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3200400" cy="3200400"/>
          </a:xfrm>
          <a:prstGeom prst="ellipse">
            <a:avLst/>
          </a:prstGeom>
          <a:solidFill>
            <a:srgbClr val="283A8A">
              <a:alpha val="40000"/>
            </a:srgbClr>
          </a:solidFill>
          <a:ln w="12700">
            <a:solidFill>
              <a:srgbClr val="283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283A8A">
              <a:alpha val="40000"/>
            </a:srgbClr>
          </a:solidFill>
          <a:ln w="12700">
            <a:solidFill>
              <a:srgbClr val="283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데이터가 스스로 말하지 않는다. 읽어내야 한다.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1463040" cy="822960"/>
          </a:xfrm>
          <a:prstGeom prst="roundRect">
            <a:avLst>
              <a:gd name="adj" fmla="val 5556"/>
            </a:avLst>
          </a:prstGeom>
          <a:solidFill>
            <a:srgbClr val="253077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227832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632건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60273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영상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40280" y="3200400"/>
            <a:ext cx="1463040" cy="822960"/>
          </a:xfrm>
          <a:prstGeom prst="roundRect">
            <a:avLst>
              <a:gd name="adj" fmla="val 5556"/>
            </a:avLst>
          </a:prstGeom>
          <a:solidFill>
            <a:srgbClr val="253077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40280" y="3227832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360273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인사이트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0" y="3200400"/>
            <a:ext cx="1463040" cy="822960"/>
          </a:xfrm>
          <a:prstGeom prst="roundRect">
            <a:avLst>
              <a:gd name="adj" fmla="val 5556"/>
            </a:avLst>
          </a:prstGeom>
          <a:solidFill>
            <a:srgbClr val="253077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40480" y="3227832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3가지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360273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시계열 기법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40680" y="3200400"/>
            <a:ext cx="1463040" cy="822960"/>
          </a:xfrm>
          <a:prstGeom prst="roundRect">
            <a:avLst>
              <a:gd name="adj" fmla="val 5556"/>
            </a:avLst>
          </a:prstGeom>
          <a:solidFill>
            <a:srgbClr val="253077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40680" y="3227832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360273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비율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40880" y="3200400"/>
            <a:ext cx="1463040" cy="822960"/>
          </a:xfrm>
          <a:prstGeom prst="roundRect">
            <a:avLst>
              <a:gd name="adj" fmla="val 5556"/>
            </a:avLst>
          </a:prstGeom>
          <a:solidFill>
            <a:srgbClr val="253077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40880" y="3227832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120배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360273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배율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M1-1 · 일본 YouTube 롱폼 콘텐츠 트렌드 분석  |  art-ruby / ia-codyssey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2026-09-15T01:15:01Z</dcterms:created>
  <dcterms:modified xsi:type="dcterms:W3CDTF">2026-09-15T01:15:01Z</dcterms:modified>
</cp:coreProperties>
</file>